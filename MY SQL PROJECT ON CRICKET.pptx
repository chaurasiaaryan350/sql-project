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VAG Rounded Next Shine" charset="1" panose="04020805020F02030202"/>
      <p:regular r:id="rId22"/>
    </p:embeddedFont>
    <p:embeddedFont>
      <p:font typeface="Kaftus" charset="1" panose="00000000000000000000"/>
      <p:regular r:id="rId23"/>
    </p:embeddedFont>
    <p:embeddedFont>
      <p:font typeface="Archivo Black" charset="1" panose="020B0A03020202020B04"/>
      <p:regular r:id="rId24"/>
    </p:embeddedFont>
    <p:embeddedFont>
      <p:font typeface="Berthold Block" charset="1" panose="02000506040000020004"/>
      <p:regular r:id="rId25"/>
    </p:embeddedFont>
    <p:embeddedFont>
      <p:font typeface="Canva Sans" charset="1" panose="020B0503030501040103"/>
      <p:regular r:id="rId26"/>
    </p:embeddedFont>
    <p:embeddedFont>
      <p:font typeface="Space Mono" charset="1" panose="02000509040000020004"/>
      <p:regular r:id="rId27"/>
    </p:embeddedFont>
    <p:embeddedFont>
      <p:font typeface="Rowdie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6133" y="-187652"/>
            <a:ext cx="18814133" cy="10225934"/>
          </a:xfrm>
          <a:custGeom>
            <a:avLst/>
            <a:gdLst/>
            <a:ahLst/>
            <a:cxnLst/>
            <a:rect r="r" b="b" t="t" l="l"/>
            <a:pathLst>
              <a:path h="10225934" w="18814133">
                <a:moveTo>
                  <a:pt x="0" y="0"/>
                </a:moveTo>
                <a:lnTo>
                  <a:pt x="18814133" y="0"/>
                </a:lnTo>
                <a:lnTo>
                  <a:pt x="18814133" y="10225934"/>
                </a:lnTo>
                <a:lnTo>
                  <a:pt x="0" y="1022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6" r="0" b="-24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88377" y="532025"/>
            <a:ext cx="9334891" cy="631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1"/>
              </a:lnSpc>
            </a:pPr>
            <a:r>
              <a:rPr lang="en-US" sz="12044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MY SQL </a:t>
            </a:r>
          </a:p>
          <a:p>
            <a:pPr algn="ctr">
              <a:lnSpc>
                <a:spcPts val="16861"/>
              </a:lnSpc>
            </a:pPr>
            <a:r>
              <a:rPr lang="en-US" sz="12044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PROJECT ON </a:t>
            </a:r>
          </a:p>
          <a:p>
            <a:pPr algn="ctr">
              <a:lnSpc>
                <a:spcPts val="16861"/>
              </a:lnSpc>
            </a:pPr>
            <a:r>
              <a:rPr lang="en-US" sz="12044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CRICKET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90448" y="9220200"/>
            <a:ext cx="2634883" cy="52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Kaftus"/>
                <a:ea typeface="Kaftus"/>
                <a:cs typeface="Kaftus"/>
                <a:sym typeface="Kaftus"/>
              </a:rPr>
              <a:t>BY</a:t>
            </a:r>
          </a:p>
          <a:p>
            <a:pPr algn="ctr">
              <a:lnSpc>
                <a:spcPts val="1984"/>
              </a:lnSpc>
              <a:spcBef>
                <a:spcPct val="0"/>
              </a:spcBef>
            </a:pPr>
            <a:r>
              <a:rPr lang="en-US" sz="1575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Kaftus"/>
                <a:ea typeface="Kaftus"/>
                <a:cs typeface="Kaftus"/>
                <a:sym typeface="Kaftus"/>
              </a:rPr>
              <a:t>ARYAN CHAURASIA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8763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spc="-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6832" y="0"/>
            <a:ext cx="16722623" cy="7269480"/>
            <a:chOff x="0" y="0"/>
            <a:chExt cx="16046197" cy="6975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46197" cy="6975431"/>
            </a:xfrm>
            <a:custGeom>
              <a:avLst/>
              <a:gdLst/>
              <a:ahLst/>
              <a:cxnLst/>
              <a:rect r="r" b="b" t="t" l="l"/>
              <a:pathLst>
                <a:path h="6975431" w="16046197">
                  <a:moveTo>
                    <a:pt x="0" y="0"/>
                  </a:moveTo>
                  <a:lnTo>
                    <a:pt x="16046197" y="0"/>
                  </a:lnTo>
                  <a:lnTo>
                    <a:pt x="16046197" y="6975431"/>
                  </a:lnTo>
                  <a:lnTo>
                    <a:pt x="0" y="6975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5" r="1985" b="141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6046197" cy="7080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1"/>
                </a:lnSpc>
              </a:pPr>
              <a:r>
                <a:rPr lang="en-US" sz="3199" spc="451">
                  <a:solidFill>
                    <a:srgbClr val="FFFFFF"/>
                  </a:solidFill>
                  <a:latin typeface="Berthold Block"/>
                  <a:ea typeface="Berthold Block"/>
                  <a:cs typeface="Berthold Block"/>
                  <a:sym typeface="Berthold Block"/>
                </a:rPr>
                <a:t>  </a:t>
              </a:r>
              <a:r>
                <a:rPr lang="en-US" sz="3199" spc="451">
                  <a:solidFill>
                    <a:srgbClr val="FFFFFF"/>
                  </a:solidFill>
                  <a:latin typeface="Berthold Block"/>
                  <a:ea typeface="Berthold Block"/>
                  <a:cs typeface="Berthold Block"/>
                  <a:sym typeface="Berthold Block"/>
                </a:rPr>
                <a:t>SQL PROJECT ON CRICKET</a:t>
              </a:r>
            </a:p>
            <a:p>
              <a:pPr algn="l">
                <a:lnSpc>
                  <a:spcPts val="3744"/>
                </a:lnSpc>
              </a:pPr>
            </a:p>
            <a:p>
              <a:pPr algn="l">
                <a:lnSpc>
                  <a:spcPts val="3744"/>
                </a:lnSpc>
              </a:pPr>
              <a:r>
                <a:rPr lang="en-US" sz="2400" spc="3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</a:t>
              </a:r>
              <a:r>
                <a:rPr lang="en-US" sz="2400" spc="3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emonstrates practical database design and querying using a real-world dataset of 30 world-renowned cricketers. Built entirely in MySQL under the database cricket_db, the project consists of five interconnected tables — players, teams, leagues, countries, and player awards — capturing details such as runs, wickets, age, nationality, role, market value, and team/league.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6985635"/>
            <a:ext cx="2693670" cy="2076450"/>
            <a:chOff x="0" y="0"/>
            <a:chExt cx="359156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9156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5915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443859" y="0"/>
                  </a:lnTo>
                  <a:cubicBezTo>
                    <a:pt x="3525393" y="0"/>
                    <a:pt x="3591560" y="66167"/>
                    <a:pt x="3591560" y="147701"/>
                  </a:cubicBezTo>
                  <a:lnTo>
                    <a:pt x="3591560" y="2620899"/>
                  </a:lnTo>
                  <a:cubicBezTo>
                    <a:pt x="3591560" y="2702433"/>
                    <a:pt x="3525393" y="2768600"/>
                    <a:pt x="344385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D034"/>
            </a:solidFill>
            <a:ln w="19050" cap="sq">
              <a:solidFill>
                <a:srgbClr val="DADDE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7200900"/>
            <a:ext cx="2674620" cy="1028700"/>
            <a:chOff x="0" y="0"/>
            <a:chExt cx="356616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6327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161020"/>
            <a:ext cx="2674620" cy="548640"/>
            <a:chOff x="0" y="0"/>
            <a:chExt cx="35661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66160" cy="731520"/>
            </a:xfrm>
            <a:custGeom>
              <a:avLst/>
              <a:gdLst/>
              <a:ahLst/>
              <a:cxnLst/>
              <a:rect r="r" b="b" t="t" l="l"/>
              <a:pathLst>
                <a:path h="73152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566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Players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93795" y="6985635"/>
            <a:ext cx="2693670" cy="2076450"/>
            <a:chOff x="0" y="0"/>
            <a:chExt cx="3591560" cy="2768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9156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5915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443859" y="0"/>
                  </a:lnTo>
                  <a:cubicBezTo>
                    <a:pt x="3525393" y="0"/>
                    <a:pt x="3591560" y="66167"/>
                    <a:pt x="3591560" y="147701"/>
                  </a:cubicBezTo>
                  <a:lnTo>
                    <a:pt x="3591560" y="2620899"/>
                  </a:lnTo>
                  <a:cubicBezTo>
                    <a:pt x="3591560" y="2702433"/>
                    <a:pt x="3525393" y="2768600"/>
                    <a:pt x="344385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D034"/>
            </a:solidFill>
            <a:ln w="19050" cap="sq">
              <a:solidFill>
                <a:srgbClr val="DADDE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703320" y="7200900"/>
            <a:ext cx="2674620" cy="1028700"/>
            <a:chOff x="0" y="0"/>
            <a:chExt cx="356616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6327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03320" y="8161020"/>
            <a:ext cx="2674620" cy="548640"/>
            <a:chOff x="0" y="0"/>
            <a:chExt cx="35661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66160" cy="731520"/>
            </a:xfrm>
            <a:custGeom>
              <a:avLst/>
              <a:gdLst/>
              <a:ahLst/>
              <a:cxnLst/>
              <a:rect r="r" b="b" t="t" l="l"/>
              <a:pathLst>
                <a:path h="73152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566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Teams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74155" y="6985635"/>
            <a:ext cx="2693670" cy="2076450"/>
            <a:chOff x="0" y="0"/>
            <a:chExt cx="3591560" cy="2768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156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5915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443859" y="0"/>
                  </a:lnTo>
                  <a:cubicBezTo>
                    <a:pt x="3525393" y="0"/>
                    <a:pt x="3591560" y="66167"/>
                    <a:pt x="3591560" y="147701"/>
                  </a:cubicBezTo>
                  <a:lnTo>
                    <a:pt x="3591560" y="2620899"/>
                  </a:lnTo>
                  <a:cubicBezTo>
                    <a:pt x="3591560" y="2702433"/>
                    <a:pt x="3525393" y="2768600"/>
                    <a:pt x="344385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D034"/>
            </a:solidFill>
            <a:ln w="19050" cap="sq">
              <a:solidFill>
                <a:srgbClr val="DADDE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0" y="7200900"/>
            <a:ext cx="2674620" cy="1028700"/>
            <a:chOff x="0" y="0"/>
            <a:chExt cx="356616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6327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83680" y="8161020"/>
            <a:ext cx="2674620" cy="548640"/>
            <a:chOff x="0" y="0"/>
            <a:chExt cx="35661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66160" cy="731520"/>
            </a:xfrm>
            <a:custGeom>
              <a:avLst/>
              <a:gdLst/>
              <a:ahLst/>
              <a:cxnLst/>
              <a:rect r="r" b="b" t="t" l="l"/>
              <a:pathLst>
                <a:path h="73152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566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Leagues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54515" y="6985635"/>
            <a:ext cx="2693670" cy="2076450"/>
            <a:chOff x="0" y="0"/>
            <a:chExt cx="3591560" cy="2768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91560" cy="2768600"/>
            </a:xfrm>
            <a:custGeom>
              <a:avLst/>
              <a:gdLst/>
              <a:ahLst/>
              <a:cxnLst/>
              <a:rect r="r" b="b" t="t" l="l"/>
              <a:pathLst>
                <a:path h="2768600" w="35915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443859" y="0"/>
                  </a:lnTo>
                  <a:cubicBezTo>
                    <a:pt x="3525393" y="0"/>
                    <a:pt x="3591560" y="66167"/>
                    <a:pt x="3591560" y="147701"/>
                  </a:cubicBezTo>
                  <a:lnTo>
                    <a:pt x="3591560" y="2620899"/>
                  </a:lnTo>
                  <a:cubicBezTo>
                    <a:pt x="3591560" y="2702433"/>
                    <a:pt x="3525393" y="2768600"/>
                    <a:pt x="344385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FD034"/>
            </a:solidFill>
            <a:ln w="19050" cap="sq">
              <a:solidFill>
                <a:srgbClr val="DADDE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464040" y="7200900"/>
            <a:ext cx="2674620" cy="1028700"/>
            <a:chOff x="0" y="0"/>
            <a:chExt cx="356616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6327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64040" y="8161020"/>
            <a:ext cx="2674620" cy="548640"/>
            <a:chOff x="0" y="0"/>
            <a:chExt cx="356616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66160" cy="731520"/>
            </a:xfrm>
            <a:custGeom>
              <a:avLst/>
              <a:gdLst/>
              <a:ahLst/>
              <a:cxnLst/>
              <a:rect r="r" b="b" t="t" l="l"/>
              <a:pathLst>
                <a:path h="73152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5661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Awards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10260" y="5692140"/>
            <a:ext cx="4457700" cy="4594860"/>
            <a:chOff x="0" y="0"/>
            <a:chExt cx="5943600" cy="6126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43600" cy="6126480"/>
            </a:xfrm>
            <a:custGeom>
              <a:avLst/>
              <a:gdLst/>
              <a:ahLst/>
              <a:cxnLst/>
              <a:rect r="r" b="b" t="t" l="l"/>
              <a:pathLst>
                <a:path h="6126480" w="5943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760720" y="0"/>
                  </a:lnTo>
                  <a:cubicBezTo>
                    <a:pt x="5861685" y="0"/>
                    <a:pt x="5943600" y="81915"/>
                    <a:pt x="5943600" y="182880"/>
                  </a:cubicBezTo>
                  <a:lnTo>
                    <a:pt x="5943600" y="5943600"/>
                  </a:lnTo>
                  <a:cubicBezTo>
                    <a:pt x="5943600" y="6044565"/>
                    <a:pt x="5861685" y="6126480"/>
                    <a:pt x="5760720" y="6126480"/>
                  </a:cubicBezTo>
                  <a:lnTo>
                    <a:pt x="182880" y="6126480"/>
                  </a:lnTo>
                  <a:cubicBezTo>
                    <a:pt x="81915" y="6126480"/>
                    <a:pt x="0" y="6044565"/>
                    <a:pt x="0" y="5943600"/>
                  </a:cubicBezTo>
                  <a:close/>
                </a:path>
              </a:pathLst>
            </a:custGeom>
            <a:solidFill>
              <a:srgbClr val="FFD03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818870" y="5897880"/>
            <a:ext cx="3840480" cy="548640"/>
            <a:chOff x="0" y="0"/>
            <a:chExt cx="51206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120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6327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FIVE TABLES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18870" y="6446520"/>
            <a:ext cx="3840480" cy="548640"/>
            <a:chOff x="0" y="0"/>
            <a:chExt cx="51206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120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players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818870" y="6995160"/>
            <a:ext cx="3840480" cy="548640"/>
            <a:chOff x="0" y="0"/>
            <a:chExt cx="512064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120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teams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818870" y="7680960"/>
            <a:ext cx="3840480" cy="548640"/>
            <a:chOff x="0" y="0"/>
            <a:chExt cx="512064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5120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leagues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818870" y="8229600"/>
            <a:ext cx="3840480" cy="548640"/>
            <a:chOff x="0" y="0"/>
            <a:chExt cx="512064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5120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countries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818870" y="8911590"/>
            <a:ext cx="3840480" cy="548640"/>
            <a:chOff x="0" y="0"/>
            <a:chExt cx="512064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1206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6327D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player_awards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spc="-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TABLE 1 — PLAYERS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13679" y="3087316"/>
            <a:ext cx="20731622" cy="6680749"/>
          </a:xfrm>
          <a:custGeom>
            <a:avLst/>
            <a:gdLst/>
            <a:ahLst/>
            <a:cxnLst/>
            <a:rect r="r" b="b" t="t" l="l"/>
            <a:pathLst>
              <a:path h="6680749" w="20731622">
                <a:moveTo>
                  <a:pt x="0" y="0"/>
                </a:moveTo>
                <a:lnTo>
                  <a:pt x="20731622" y="0"/>
                </a:lnTo>
                <a:lnTo>
                  <a:pt x="20731622" y="6680749"/>
                </a:lnTo>
                <a:lnTo>
                  <a:pt x="0" y="6680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48" r="-5070" b="-64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2960" y="1823085"/>
            <a:ext cx="6858000" cy="31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DATABASE: CRICKET_DB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spc="-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TABLE 2 — TEAMS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3375358"/>
            <a:ext cx="22249011" cy="6574533"/>
          </a:xfrm>
          <a:custGeom>
            <a:avLst/>
            <a:gdLst/>
            <a:ahLst/>
            <a:cxnLst/>
            <a:rect r="r" b="b" t="t" l="l"/>
            <a:pathLst>
              <a:path h="6574533" w="22249011">
                <a:moveTo>
                  <a:pt x="0" y="0"/>
                </a:moveTo>
                <a:lnTo>
                  <a:pt x="22249011" y="0"/>
                </a:lnTo>
                <a:lnTo>
                  <a:pt x="22249011" y="6574533"/>
                </a:lnTo>
                <a:lnTo>
                  <a:pt x="0" y="657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spc="-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TABLE 3 — LEAGUES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3072410"/>
            <a:ext cx="24096457" cy="6369044"/>
          </a:xfrm>
          <a:custGeom>
            <a:avLst/>
            <a:gdLst/>
            <a:ahLst/>
            <a:cxnLst/>
            <a:rect r="r" b="b" t="t" l="l"/>
            <a:pathLst>
              <a:path h="6369044" w="24096457">
                <a:moveTo>
                  <a:pt x="0" y="0"/>
                </a:moveTo>
                <a:lnTo>
                  <a:pt x="24096457" y="0"/>
                </a:lnTo>
                <a:lnTo>
                  <a:pt x="24096457" y="6369043"/>
                </a:lnTo>
                <a:lnTo>
                  <a:pt x="0" y="6369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91" r="-3987" b="-139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spc="-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TABLE 4 — COUNTRIES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2520230"/>
            <a:ext cx="23981059" cy="7132623"/>
          </a:xfrm>
          <a:custGeom>
            <a:avLst/>
            <a:gdLst/>
            <a:ahLst/>
            <a:cxnLst/>
            <a:rect r="r" b="b" t="t" l="l"/>
            <a:pathLst>
              <a:path h="7132623" w="23981059">
                <a:moveTo>
                  <a:pt x="0" y="0"/>
                </a:moveTo>
                <a:lnTo>
                  <a:pt x="23981059" y="0"/>
                </a:lnTo>
                <a:lnTo>
                  <a:pt x="23981059" y="7132623"/>
                </a:lnTo>
                <a:lnTo>
                  <a:pt x="0" y="7132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55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spc="-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TABLE 5 — PLAYER AWARDS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2607984"/>
            <a:ext cx="25157629" cy="6955571"/>
          </a:xfrm>
          <a:custGeom>
            <a:avLst/>
            <a:gdLst/>
            <a:ahLst/>
            <a:cxnLst/>
            <a:rect r="r" b="b" t="t" l="l"/>
            <a:pathLst>
              <a:path h="6955571" w="25157629">
                <a:moveTo>
                  <a:pt x="0" y="0"/>
                </a:moveTo>
                <a:lnTo>
                  <a:pt x="25157629" y="0"/>
                </a:lnTo>
                <a:lnTo>
                  <a:pt x="25157629" y="6955572"/>
                </a:lnTo>
                <a:lnTo>
                  <a:pt x="0" y="695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6" t="0" r="-2508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275969"/>
            <a:ext cx="1572074" cy="60651"/>
            <a:chOff x="0" y="0"/>
            <a:chExt cx="164592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63500"/>
            </a:xfrm>
            <a:custGeom>
              <a:avLst/>
              <a:gdLst/>
              <a:ahLst/>
              <a:cxnLst/>
              <a:rect r="r" b="b" t="t" l="l"/>
              <a:pathLst>
                <a:path h="635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42585" y="1016567"/>
            <a:ext cx="13378327" cy="1920660"/>
          </a:xfrm>
          <a:custGeom>
            <a:avLst/>
            <a:gdLst/>
            <a:ahLst/>
            <a:cxnLst/>
            <a:rect r="r" b="b" t="t" l="l"/>
            <a:pathLst>
              <a:path h="1920660" w="13378327">
                <a:moveTo>
                  <a:pt x="0" y="0"/>
                </a:moveTo>
                <a:lnTo>
                  <a:pt x="13378327" y="0"/>
                </a:lnTo>
                <a:lnTo>
                  <a:pt x="13378327" y="1920660"/>
                </a:lnTo>
                <a:lnTo>
                  <a:pt x="0" y="1920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834" b="-10699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42585" y="3022952"/>
            <a:ext cx="17265625" cy="2082488"/>
          </a:xfrm>
          <a:custGeom>
            <a:avLst/>
            <a:gdLst/>
            <a:ahLst/>
            <a:cxnLst/>
            <a:rect r="r" b="b" t="t" l="l"/>
            <a:pathLst>
              <a:path h="2082488" w="17265625">
                <a:moveTo>
                  <a:pt x="0" y="0"/>
                </a:moveTo>
                <a:lnTo>
                  <a:pt x="17265625" y="0"/>
                </a:lnTo>
                <a:lnTo>
                  <a:pt x="17265625" y="2082488"/>
                </a:lnTo>
                <a:lnTo>
                  <a:pt x="0" y="208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2019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42585" y="5190192"/>
            <a:ext cx="12954635" cy="2651469"/>
          </a:xfrm>
          <a:custGeom>
            <a:avLst/>
            <a:gdLst/>
            <a:ahLst/>
            <a:cxnLst/>
            <a:rect r="r" b="b" t="t" l="l"/>
            <a:pathLst>
              <a:path h="2651469" w="12954635">
                <a:moveTo>
                  <a:pt x="0" y="0"/>
                </a:moveTo>
                <a:lnTo>
                  <a:pt x="12954635" y="0"/>
                </a:lnTo>
                <a:lnTo>
                  <a:pt x="12954635" y="2651469"/>
                </a:lnTo>
                <a:lnTo>
                  <a:pt x="0" y="2651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404" b="-7560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42585" y="7904864"/>
            <a:ext cx="12954635" cy="2382136"/>
          </a:xfrm>
          <a:custGeom>
            <a:avLst/>
            <a:gdLst/>
            <a:ahLst/>
            <a:cxnLst/>
            <a:rect r="r" b="b" t="t" l="l"/>
            <a:pathLst>
              <a:path h="2382136" w="12954635">
                <a:moveTo>
                  <a:pt x="0" y="0"/>
                </a:moveTo>
                <a:lnTo>
                  <a:pt x="12954635" y="0"/>
                </a:lnTo>
                <a:lnTo>
                  <a:pt x="12954635" y="2382136"/>
                </a:lnTo>
                <a:lnTo>
                  <a:pt x="0" y="238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289" r="0" b="-7923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5800" y="1527120"/>
            <a:ext cx="8023860" cy="10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</a:pPr>
            <a:r>
              <a:rPr lang="en-US" sz="28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NUMBER OF</a:t>
            </a:r>
          </a:p>
          <a:p>
            <a:pPr algn="l">
              <a:lnSpc>
                <a:spcPts val="4346"/>
              </a:lnSpc>
            </a:pPr>
            <a:r>
              <a:rPr lang="en-US" sz="31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PLAYERS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800" y="3566850"/>
            <a:ext cx="8023860" cy="118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</a:t>
            </a:r>
            <a:r>
              <a:rPr lang="en-US" sz="34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RUNS &amp;</a:t>
            </a:r>
          </a:p>
          <a:p>
            <a:pPr algn="l">
              <a:lnSpc>
                <a:spcPts val="4760"/>
              </a:lnSpc>
            </a:pPr>
            <a:r>
              <a:rPr lang="en-US" sz="34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WICKETS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6179016"/>
            <a:ext cx="8023860" cy="59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</a:pPr>
            <a:r>
              <a:rPr lang="en-US" sz="3549">
                <a:solidFill>
                  <a:srgbClr val="FFFFFF"/>
                </a:solidFill>
                <a:latin typeface="Rowdies"/>
                <a:ea typeface="Rowdies"/>
                <a:cs typeface="Rowdies"/>
                <a:sym typeface="Rowdies"/>
              </a:rPr>
              <a:t>YOUNGEST PLAYER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" y="8663177"/>
            <a:ext cx="8023860" cy="59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</a:pPr>
            <a:r>
              <a:rPr lang="en-US" sz="3549">
                <a:solidFill>
                  <a:srgbClr val="FFFFFF"/>
                </a:solidFill>
                <a:latin typeface="Rowdies"/>
                <a:ea typeface="Rowdies"/>
                <a:cs typeface="Rowdies"/>
                <a:sym typeface="Rowdies"/>
              </a:rPr>
              <a:t>OLDEST PLAYER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784495"/>
            <a:ext cx="1234440" cy="47625"/>
            <a:chOff x="0" y="0"/>
            <a:chExt cx="164592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63500"/>
            </a:xfrm>
            <a:custGeom>
              <a:avLst/>
              <a:gdLst/>
              <a:ahLst/>
              <a:cxnLst/>
              <a:rect r="r" b="b" t="t" l="l"/>
              <a:pathLst>
                <a:path h="635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43341" y="512185"/>
            <a:ext cx="11244659" cy="3866014"/>
          </a:xfrm>
          <a:custGeom>
            <a:avLst/>
            <a:gdLst/>
            <a:ahLst/>
            <a:cxnLst/>
            <a:rect r="r" b="b" t="t" l="l"/>
            <a:pathLst>
              <a:path h="3866014" w="11244659">
                <a:moveTo>
                  <a:pt x="0" y="0"/>
                </a:moveTo>
                <a:lnTo>
                  <a:pt x="11244659" y="0"/>
                </a:lnTo>
                <a:lnTo>
                  <a:pt x="11244659" y="3866014"/>
                </a:lnTo>
                <a:lnTo>
                  <a:pt x="0" y="386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43341" y="4469892"/>
            <a:ext cx="14297373" cy="3076056"/>
          </a:xfrm>
          <a:custGeom>
            <a:avLst/>
            <a:gdLst/>
            <a:ahLst/>
            <a:cxnLst/>
            <a:rect r="r" b="b" t="t" l="l"/>
            <a:pathLst>
              <a:path h="3076056" w="14297373">
                <a:moveTo>
                  <a:pt x="0" y="0"/>
                </a:moveTo>
                <a:lnTo>
                  <a:pt x="14297373" y="0"/>
                </a:lnTo>
                <a:lnTo>
                  <a:pt x="14297373" y="3076055"/>
                </a:lnTo>
                <a:lnTo>
                  <a:pt x="0" y="3076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995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35732"/>
            <a:ext cx="5280660" cy="100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9"/>
              </a:lnSpc>
            </a:pPr>
            <a:r>
              <a:rPr lang="en-US" sz="27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NUMBER OF PLAYERS</a:t>
            </a:r>
          </a:p>
          <a:p>
            <a:pPr algn="l">
              <a:lnSpc>
                <a:spcPts val="4243"/>
              </a:lnSpc>
            </a:pPr>
            <a:r>
              <a:rPr lang="en-US" sz="30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IN EACH TEAM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739853"/>
            <a:ext cx="5280660" cy="58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33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PLAYERS BY ROLE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149780"/>
            <a:ext cx="5280660" cy="110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2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RUNS SCORED BY </a:t>
            </a:r>
          </a:p>
          <a:p>
            <a:pPr algn="l">
              <a:lnSpc>
                <a:spcPts val="4243"/>
              </a:lnSpc>
            </a:pPr>
            <a:r>
              <a:rPr lang="en-US" sz="30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NATIONALITY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043341" y="7641197"/>
            <a:ext cx="11244659" cy="3522308"/>
          </a:xfrm>
          <a:custGeom>
            <a:avLst/>
            <a:gdLst/>
            <a:ahLst/>
            <a:cxnLst/>
            <a:rect r="r" b="b" t="t" l="l"/>
            <a:pathLst>
              <a:path h="3522308" w="11244659">
                <a:moveTo>
                  <a:pt x="0" y="0"/>
                </a:moveTo>
                <a:lnTo>
                  <a:pt x="11244659" y="0"/>
                </a:lnTo>
                <a:lnTo>
                  <a:pt x="11244659" y="3522308"/>
                </a:lnTo>
                <a:lnTo>
                  <a:pt x="0" y="3522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3" t="0" r="-193" b="-763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18340" y="1319470"/>
            <a:ext cx="17405916" cy="4290376"/>
          </a:xfrm>
          <a:custGeom>
            <a:avLst/>
            <a:gdLst/>
            <a:ahLst/>
            <a:cxnLst/>
            <a:rect r="r" b="b" t="t" l="l"/>
            <a:pathLst>
              <a:path h="4290376" w="17405916">
                <a:moveTo>
                  <a:pt x="0" y="0"/>
                </a:moveTo>
                <a:lnTo>
                  <a:pt x="17405916" y="0"/>
                </a:lnTo>
                <a:lnTo>
                  <a:pt x="17405916" y="4290376"/>
                </a:lnTo>
                <a:lnTo>
                  <a:pt x="0" y="4290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120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8340" y="5906142"/>
            <a:ext cx="18038741" cy="4390644"/>
          </a:xfrm>
          <a:custGeom>
            <a:avLst/>
            <a:gdLst/>
            <a:ahLst/>
            <a:cxnLst/>
            <a:rect r="r" b="b" t="t" l="l"/>
            <a:pathLst>
              <a:path h="4390644" w="18038741">
                <a:moveTo>
                  <a:pt x="0" y="0"/>
                </a:moveTo>
                <a:lnTo>
                  <a:pt x="18038740" y="0"/>
                </a:lnTo>
                <a:lnTo>
                  <a:pt x="18038740" y="4390644"/>
                </a:lnTo>
                <a:lnTo>
                  <a:pt x="0" y="4390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274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5800" y="2336031"/>
            <a:ext cx="8896519" cy="145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AVERAGE MARKET VALUE BY </a:t>
            </a: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ROLE — ONLY ROLES </a:t>
            </a: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ABOVE $10M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6687382"/>
            <a:ext cx="8458200" cy="148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4"/>
              </a:lnSpc>
            </a:pPr>
            <a:r>
              <a:rPr lang="en-US" sz="287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WICKETS BY </a:t>
            </a:r>
          </a:p>
          <a:p>
            <a:pPr algn="l">
              <a:lnSpc>
                <a:spcPts val="3964"/>
              </a:lnSpc>
            </a:pPr>
            <a:r>
              <a:rPr lang="en-US" sz="287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LEAGUE — ONLY LEAGUES </a:t>
            </a:r>
          </a:p>
          <a:p>
            <a:pPr algn="l">
              <a:lnSpc>
                <a:spcPts val="3964"/>
              </a:lnSpc>
            </a:pPr>
            <a:r>
              <a:rPr lang="en-US" sz="287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ABOVE 100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81075"/>
            <a:ext cx="1234440" cy="47625"/>
            <a:chOff x="0" y="0"/>
            <a:chExt cx="164592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63500"/>
            </a:xfrm>
            <a:custGeom>
              <a:avLst/>
              <a:gdLst/>
              <a:ahLst/>
              <a:cxnLst/>
              <a:rect r="r" b="b" t="t" l="l"/>
              <a:pathLst>
                <a:path h="635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66460" y="1262445"/>
            <a:ext cx="13776320" cy="4265107"/>
          </a:xfrm>
          <a:custGeom>
            <a:avLst/>
            <a:gdLst/>
            <a:ahLst/>
            <a:cxnLst/>
            <a:rect r="r" b="b" t="t" l="l"/>
            <a:pathLst>
              <a:path h="4265107" w="13776320">
                <a:moveTo>
                  <a:pt x="0" y="0"/>
                </a:moveTo>
                <a:lnTo>
                  <a:pt x="13776320" y="0"/>
                </a:lnTo>
                <a:lnTo>
                  <a:pt x="13776320" y="4265108"/>
                </a:lnTo>
                <a:lnTo>
                  <a:pt x="0" y="4265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51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66460" y="5692718"/>
            <a:ext cx="14865132" cy="4155781"/>
          </a:xfrm>
          <a:custGeom>
            <a:avLst/>
            <a:gdLst/>
            <a:ahLst/>
            <a:cxnLst/>
            <a:rect r="r" b="b" t="t" l="l"/>
            <a:pathLst>
              <a:path h="4155781" w="14865132">
                <a:moveTo>
                  <a:pt x="0" y="0"/>
                </a:moveTo>
                <a:lnTo>
                  <a:pt x="14865132" y="0"/>
                </a:lnTo>
                <a:lnTo>
                  <a:pt x="14865132" y="4155781"/>
                </a:lnTo>
                <a:lnTo>
                  <a:pt x="0" y="4155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544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3020" y="2164200"/>
            <a:ext cx="5280660" cy="106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0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TOP 10 </a:t>
            </a:r>
            <a:r>
              <a:rPr lang="en-US" sz="30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PLAYERS </a:t>
            </a:r>
          </a:p>
          <a:p>
            <a:pPr algn="l">
              <a:lnSpc>
                <a:spcPts val="4243"/>
              </a:lnSpc>
            </a:pPr>
            <a:r>
              <a:rPr lang="en-US" sz="30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BY RUNS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6918128"/>
            <a:ext cx="5280660" cy="52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0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PLAYERS AGED 25–30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753382" y="460985"/>
            <a:ext cx="15693023" cy="4999758"/>
          </a:xfrm>
          <a:custGeom>
            <a:avLst/>
            <a:gdLst/>
            <a:ahLst/>
            <a:cxnLst/>
            <a:rect r="r" b="b" t="t" l="l"/>
            <a:pathLst>
              <a:path h="4999758" w="15693023">
                <a:moveTo>
                  <a:pt x="0" y="0"/>
                </a:moveTo>
                <a:lnTo>
                  <a:pt x="15693023" y="0"/>
                </a:lnTo>
                <a:lnTo>
                  <a:pt x="15693023" y="4999758"/>
                </a:lnTo>
                <a:lnTo>
                  <a:pt x="0" y="4999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2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3382" y="6444005"/>
            <a:ext cx="14575719" cy="4282053"/>
          </a:xfrm>
          <a:custGeom>
            <a:avLst/>
            <a:gdLst/>
            <a:ahLst/>
            <a:cxnLst/>
            <a:rect r="r" b="b" t="t" l="l"/>
            <a:pathLst>
              <a:path h="4282053" w="14575719">
                <a:moveTo>
                  <a:pt x="0" y="0"/>
                </a:moveTo>
                <a:lnTo>
                  <a:pt x="14575719" y="0"/>
                </a:lnTo>
                <a:lnTo>
                  <a:pt x="14575719" y="4282052"/>
                </a:lnTo>
                <a:lnTo>
                  <a:pt x="0" y="4282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77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2960" y="2903714"/>
            <a:ext cx="8023860" cy="98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</a:pPr>
            <a:r>
              <a:rPr lang="en-US" sz="28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PLAYERS WITH THEIR </a:t>
            </a:r>
          </a:p>
          <a:p>
            <a:pPr algn="l">
              <a:lnSpc>
                <a:spcPts val="3932"/>
              </a:lnSpc>
            </a:pPr>
            <a:r>
              <a:rPr lang="en-US" sz="28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TEAM'S GROUND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8239886"/>
            <a:ext cx="8023860" cy="101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29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PLAYERS WITH ANY</a:t>
            </a:r>
          </a:p>
          <a:p>
            <a:pPr algn="l">
              <a:lnSpc>
                <a:spcPts val="4070"/>
              </a:lnSpc>
            </a:pPr>
            <a:r>
              <a:rPr lang="en-US" sz="29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AWARDS WON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536192"/>
            <a:ext cx="1234440" cy="82296"/>
            <a:chOff x="0" y="0"/>
            <a:chExt cx="1645920" cy="109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182672" y="1536192"/>
            <a:ext cx="15108953" cy="4782149"/>
          </a:xfrm>
          <a:custGeom>
            <a:avLst/>
            <a:gdLst/>
            <a:ahLst/>
            <a:cxnLst/>
            <a:rect r="r" b="b" t="t" l="l"/>
            <a:pathLst>
              <a:path h="4782149" w="15108953">
                <a:moveTo>
                  <a:pt x="0" y="0"/>
                </a:moveTo>
                <a:lnTo>
                  <a:pt x="15108954" y="0"/>
                </a:lnTo>
                <a:lnTo>
                  <a:pt x="15108954" y="4782149"/>
                </a:lnTo>
                <a:lnTo>
                  <a:pt x="0" y="4782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82672" y="6438737"/>
            <a:ext cx="15108953" cy="4334810"/>
          </a:xfrm>
          <a:custGeom>
            <a:avLst/>
            <a:gdLst/>
            <a:ahLst/>
            <a:cxnLst/>
            <a:rect r="r" b="b" t="t" l="l"/>
            <a:pathLst>
              <a:path h="4334810" w="15108953">
                <a:moveTo>
                  <a:pt x="0" y="0"/>
                </a:moveTo>
                <a:lnTo>
                  <a:pt x="15108954" y="0"/>
                </a:lnTo>
                <a:lnTo>
                  <a:pt x="15108954" y="4334810"/>
                </a:lnTo>
                <a:lnTo>
                  <a:pt x="0" y="4334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1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489502"/>
            <a:ext cx="8023860" cy="106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EVERY COUNTRY AND</a:t>
            </a:r>
          </a:p>
          <a:p>
            <a:pPr algn="l">
              <a:lnSpc>
                <a:spcPts val="4208"/>
              </a:lnSpc>
            </a:pPr>
            <a:r>
              <a:rPr lang="en-US" sz="30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ITS PLAYERS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7875583"/>
            <a:ext cx="8023860" cy="101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29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PLAYERS MATCHED TO </a:t>
            </a:r>
          </a:p>
          <a:p>
            <a:pPr algn="l">
              <a:lnSpc>
                <a:spcPts val="4070"/>
              </a:lnSpc>
            </a:pPr>
            <a:r>
              <a:rPr lang="en-US" sz="29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THEIR LEAGUE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1468" y="1235665"/>
            <a:ext cx="13302156" cy="9144039"/>
          </a:xfrm>
          <a:custGeom>
            <a:avLst/>
            <a:gdLst/>
            <a:ahLst/>
            <a:cxnLst/>
            <a:rect r="r" b="b" t="t" l="l"/>
            <a:pathLst>
              <a:path h="9144039" w="13302156">
                <a:moveTo>
                  <a:pt x="0" y="0"/>
                </a:moveTo>
                <a:lnTo>
                  <a:pt x="13302157" y="0"/>
                </a:lnTo>
                <a:lnTo>
                  <a:pt x="13302157" y="9144039"/>
                </a:lnTo>
                <a:lnTo>
                  <a:pt x="0" y="9144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96" r="-1955" b="-221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4891" y="440816"/>
            <a:ext cx="8533309" cy="62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6"/>
              </a:lnSpc>
              <a:spcBef>
                <a:spcPct val="0"/>
              </a:spcBef>
            </a:pPr>
            <a:r>
              <a:rPr lang="en-US" sz="36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</a:t>
            </a:r>
            <a:r>
              <a:rPr lang="en-US" sz="36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NTITY RELATIONSHIP DIAGRAM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7543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549104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spc="-96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851660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743200"/>
            <a:ext cx="11795760" cy="4800600"/>
            <a:chOff x="0" y="0"/>
            <a:chExt cx="15727680" cy="640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7276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6400800"/>
                  </a:lnTo>
                  <a:lnTo>
                    <a:pt x="0" y="6400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16" t="0" r="-221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5727680" cy="650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09"/>
                </a:lnSpc>
              </a:pPr>
              <a:r>
                <a:rPr lang="en-US" sz="2475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This project demonstrates how a relational database can be designed and queried to extract meaningful insights from real-world cricket data. By structuring information across five connected tables — players, teams, leagues, countries, and player awards — we were able to explore player performance, market value, team history, and national representation through a variety of SQL techniques, including aggregate functions, string and mathematical functions, GROUP BY / HAVING, window ranking, and all four major join types.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7360" y="2743200"/>
            <a:ext cx="4457700" cy="4800600"/>
            <a:chOff x="0" y="0"/>
            <a:chExt cx="5943600" cy="640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36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5943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760720" y="0"/>
                  </a:lnTo>
                  <a:cubicBezTo>
                    <a:pt x="5861685" y="0"/>
                    <a:pt x="5943600" y="81915"/>
                    <a:pt x="5943600" y="182880"/>
                  </a:cubicBezTo>
                  <a:lnTo>
                    <a:pt x="5943600" y="6217920"/>
                  </a:lnTo>
                  <a:cubicBezTo>
                    <a:pt x="5943600" y="6318885"/>
                    <a:pt x="5861685" y="6400800"/>
                    <a:pt x="576072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510260" y="3017520"/>
            <a:ext cx="3840480" cy="548640"/>
            <a:chOff x="0" y="0"/>
            <a:chExt cx="51206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SQL TECHNIQUES USED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510260" y="3771900"/>
            <a:ext cx="3840480" cy="685800"/>
            <a:chOff x="0" y="0"/>
            <a:chExt cx="512064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12064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Aggregate Functions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10260" y="4526280"/>
            <a:ext cx="3840480" cy="685800"/>
            <a:chOff x="0" y="0"/>
            <a:chExt cx="51206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512064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10260" y="4667250"/>
            <a:ext cx="3840480" cy="685800"/>
            <a:chOff x="0" y="0"/>
            <a:chExt cx="512064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512064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GROUP BY / HAVING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10260" y="5419725"/>
            <a:ext cx="3840480" cy="685800"/>
            <a:chOff x="0" y="0"/>
            <a:chExt cx="512064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12064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Window Ranking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510260" y="6315075"/>
            <a:ext cx="3840480" cy="685800"/>
            <a:chOff x="0" y="0"/>
            <a:chExt cx="512064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512064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•  Inner / Left / Right / Cross Joins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7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6583680"/>
            <a:ext cx="23728680" cy="8229600"/>
            <a:chOff x="0" y="0"/>
            <a:chExt cx="3163824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638239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31638239">
                  <a:moveTo>
                    <a:pt x="0" y="5486400"/>
                  </a:moveTo>
                  <a:cubicBezTo>
                    <a:pt x="0" y="2456307"/>
                    <a:pt x="7082409" y="0"/>
                    <a:pt x="15819120" y="0"/>
                  </a:cubicBezTo>
                  <a:cubicBezTo>
                    <a:pt x="24555831" y="0"/>
                    <a:pt x="31638239" y="2456307"/>
                    <a:pt x="31638239" y="5486400"/>
                  </a:cubicBezTo>
                  <a:cubicBezTo>
                    <a:pt x="31638239" y="8516493"/>
                    <a:pt x="24555831" y="10972800"/>
                    <a:pt x="15819120" y="10972800"/>
                  </a:cubicBezTo>
                  <a:cubicBezTo>
                    <a:pt x="7082408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6327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1600" y="8366760"/>
            <a:ext cx="20985480" cy="2194560"/>
            <a:chOff x="0" y="0"/>
            <a:chExt cx="2798064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806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7980639">
                  <a:moveTo>
                    <a:pt x="0" y="0"/>
                  </a:moveTo>
                  <a:lnTo>
                    <a:pt x="27980639" y="0"/>
                  </a:lnTo>
                  <a:lnTo>
                    <a:pt x="27980639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3" y="812482"/>
            <a:ext cx="1049655" cy="1049655"/>
            <a:chOff x="0" y="0"/>
            <a:chExt cx="1399540" cy="13995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9540" cy="1399540"/>
            </a:xfrm>
            <a:custGeom>
              <a:avLst/>
              <a:gdLst/>
              <a:ahLst/>
              <a:cxnLst/>
              <a:rect r="r" b="b" t="t" l="l"/>
              <a:pathLst>
                <a:path h="1399540" w="1399540">
                  <a:moveTo>
                    <a:pt x="0" y="699770"/>
                  </a:moveTo>
                  <a:cubicBezTo>
                    <a:pt x="0" y="313309"/>
                    <a:pt x="313309" y="0"/>
                    <a:pt x="699770" y="0"/>
                  </a:cubicBezTo>
                  <a:cubicBezTo>
                    <a:pt x="1086231" y="0"/>
                    <a:pt x="1399540" y="313309"/>
                    <a:pt x="1399540" y="699770"/>
                  </a:cubicBezTo>
                  <a:cubicBezTo>
                    <a:pt x="1399540" y="1086231"/>
                    <a:pt x="1086231" y="1399540"/>
                    <a:pt x="699770" y="1399540"/>
                  </a:cubicBezTo>
                  <a:cubicBezTo>
                    <a:pt x="313309" y="1399540"/>
                    <a:pt x="0" y="1086231"/>
                    <a:pt x="0" y="699770"/>
                  </a:cubicBezTo>
                  <a:close/>
                </a:path>
              </a:pathLst>
            </a:custGeom>
            <a:solidFill>
              <a:srgbClr val="FFD034"/>
            </a:solidFill>
            <a:ln w="2095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3429000"/>
            <a:ext cx="16322040" cy="1645920"/>
            <a:chOff x="0" y="0"/>
            <a:chExt cx="2176272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226" r="0" b="-14322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76272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000"/>
                </a:lnSpc>
              </a:pPr>
              <a:r>
                <a:rPr lang="en-US" sz="7500" spc="-15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2440" y="5074920"/>
            <a:ext cx="2057400" cy="68580"/>
            <a:chOff x="0" y="0"/>
            <a:chExt cx="2743200" cy="91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3200" cy="91440"/>
            </a:xfrm>
            <a:custGeom>
              <a:avLst/>
              <a:gdLst/>
              <a:ahLst/>
              <a:cxnLst/>
              <a:rect r="r" b="b" t="t" l="l"/>
              <a:pathLst>
                <a:path h="914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D03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" y="9464040"/>
            <a:ext cx="16322040" cy="548640"/>
            <a:chOff x="0" y="0"/>
            <a:chExt cx="217627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762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DAHU3U88dMc</dc:identifier>
  <dcterms:modified xsi:type="dcterms:W3CDTF">2011-08-01T06:04:30Z</dcterms:modified>
  <cp:revision>1</cp:revision>
  <dc:title>MY SQL PROJECT ON CRICKET</dc:title>
</cp:coreProperties>
</file>